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2" autoAdjust="0"/>
    <p:restoredTop sz="94660"/>
  </p:normalViewPr>
  <p:slideViewPr>
    <p:cSldViewPr snapToGrid="0">
      <p:cViewPr varScale="1">
        <p:scale>
          <a:sx n="88" d="100"/>
          <a:sy n="88" d="100"/>
        </p:scale>
        <p:origin x="12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A7C85-D7D9-3CB0-573D-8F8A2E126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990876"/>
            <a:ext cx="8825658" cy="2677648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Business Problem &amp; Solution impact</a:t>
            </a:r>
          </a:p>
        </p:txBody>
      </p:sp>
    </p:spTree>
    <p:extLst>
      <p:ext uri="{BB962C8B-B14F-4D97-AF65-F5344CB8AC3E}">
        <p14:creationId xmlns:p14="http://schemas.microsoft.com/office/powerpoint/2010/main" val="3171578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7FDFC-EC89-9A9F-DF53-520B41EE4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Slide 1: Strategic Problem-Solving: The Roadmap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16871-E559-1173-768D-81FFFA157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Section 4 – Strategic Roadmap &amp; Nasim’s Model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"Moving into our Strategic Roadmap, we have identified key operational challenges and developed solutions using </a:t>
            </a:r>
            <a:r>
              <a:rPr lang="en-US" b="1" dirty="0"/>
              <a:t>Nasim’s Model</a:t>
            </a:r>
            <a:r>
              <a:rPr lang="en-US" dirty="0"/>
              <a:t>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Challenge 1: Seasonal Sales Fluctuation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Our analysis shows that sales are lowest from January to May, creating cash-flow pressure.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Solution: Maintenance Revenue Stream</a:t>
            </a:r>
            <a:endParaRPr lang="en-US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To solve this, we will shift our focus to a Maintenance Revenue Stream during these 'lean months.'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While customers don't buy bikes every month, they do need regular servicing.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583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207B-770D-5449-BB5D-E57CA2EB6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Slide 2: Seasonal Strategy &amp; Dead Stock Management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1F1C1-6EB7-D4F3-B2A6-202D5AE6C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Section 4 – Cash Flow &amp; Capital Optimization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Solution: Pre-booking Model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Additionally, we will implement a Pre-booking Model in March and April with 'Early Bird' discounts for high-demand bikes arriving in June to keep cash flowing early.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Challenge 2: Capital Blockage in Dead Stock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With </a:t>
            </a:r>
            <a:r>
              <a:rPr lang="en-US" b="1" dirty="0"/>
              <a:t>127 components</a:t>
            </a:r>
            <a:r>
              <a:rPr lang="en-US" dirty="0"/>
              <a:t> currently unsold, we are locking up significant capital.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Solution: Annual Maintenance Campaign</a:t>
            </a:r>
            <a:endParaRPr lang="en-US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Offering </a:t>
            </a:r>
            <a:r>
              <a:rPr lang="en-US" b="1" dirty="0"/>
              <a:t>10 to 15% discounts</a:t>
            </a:r>
            <a:r>
              <a:rPr lang="en-US" dirty="0"/>
              <a:t> on component replacements during servicing.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This ensures customers return to us while we efficiently clear out old stock.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396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D0F10-8C1E-EEB3-A5B1-0CB630A26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Slide 3: Revenue Concentration &amp; Diversification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DCAAD-A71A-4B58-B5C0-E96F258CA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Section 4 – Revenue Streams &amp; Inventory Strategy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Challenge 3: High Revenue Concentration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Since </a:t>
            </a:r>
            <a:r>
              <a:rPr lang="en-US" b="1" dirty="0"/>
              <a:t>96.46%</a:t>
            </a:r>
            <a:r>
              <a:rPr lang="en-US" dirty="0"/>
              <a:t> of our income relies on bikes, we see stagnation in Clothing and Accessories.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Solution: Psychological Bundling through Price Embedding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Including the cost of clothing within the bike's price and offering it as a </a:t>
            </a:r>
            <a:r>
              <a:rPr lang="en-US" b="1" dirty="0"/>
              <a:t>'Free Gift.'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increases customer satisfaction while clearing inventory.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147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F6499-F499-DD5B-E166-3C024D4D1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Revenue Concentration &amp; Diversification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3692E-3EE0-E223-779A-D7B295A1B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Solution: Strategic Cross-selling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 will also utilize Cross-selling by offering 'Add-on' discounts on premium safety gear specifically for bike buyers.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642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648A1-5C24-B4AD-6219-379EC7126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Slide 4: Operational Scaling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8B8E9-E3DF-7773-35F4-0924E8410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Section 4 – Peak Load Management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Final Challenge: Peak Load Pressure in December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 handle this, we will utilize </a:t>
            </a:r>
            <a:r>
              <a:rPr lang="en-US" b="1" dirty="0"/>
              <a:t>Predictive Scaling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Strategic Action Plan: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 must ensure our </a:t>
            </a:r>
            <a:r>
              <a:rPr lang="en-US" b="1" dirty="0"/>
              <a:t>88 'Success Models'</a:t>
            </a:r>
            <a:r>
              <a:rPr lang="en-US" dirty="0"/>
              <a:t> are fully stocked by October.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Partner with temporary third-party delivery services specifically for the December rush.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557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E9FC7-3670-7010-17FA-F32839DA3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Slide 5: Executive Summary: 2025 Closing &amp; Risk Assessment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BE619-5240-00EB-F7CE-08085C525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Section 5 – Data Context &amp; Risk Indicators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"As we close out our 2025 analysis, it is important to clarify a data context: any 'Decrease' signals seen in early 2026 are due to incomplete data."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True Business Health: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Our true business health is reflected in the 2025 Closing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'Danger Zone' Indicator: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 utilize a High-Risk Indicator known as the </a:t>
            </a:r>
            <a:r>
              <a:rPr lang="en-US" b="1" dirty="0"/>
              <a:t>'Danger Zone.'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product is flagged for a </a:t>
            </a:r>
            <a:r>
              <a:rPr lang="en-US" b="1" dirty="0"/>
              <a:t>'Red Alert'</a:t>
            </a:r>
            <a:r>
              <a:rPr lang="en-US" dirty="0"/>
              <a:t> only if it is both Below Average in sales and shows a Decrease compared to the previous year.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621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72882-FCBC-E10F-2B4C-6CD6292D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Slide 6: Performance Report &amp; Special Trend Analysis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A93DC-CF48-3AEC-E4C4-68CF181C6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Section 5 – Zero Failure Rate &amp; Series Monitoring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Excellent News: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As of the end of 2025, we have a </a:t>
            </a:r>
            <a:r>
              <a:rPr lang="en-US" b="1" dirty="0"/>
              <a:t>Zero Failure Rate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Not a single product has fallen into the Danger Zone; every item is either exceeding its average or showing growth.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Special Trend Monitoring: Road-250 Series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 are, however, monitoring a Special Trend in the Road-250 Series.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While these models remain core revenue drivers and stay significantly </a:t>
            </a:r>
            <a:r>
              <a:rPr lang="en-US" b="1" dirty="0"/>
              <a:t>'Above Average,'</a:t>
            </a:r>
            <a:r>
              <a:rPr lang="en-US" dirty="0"/>
              <a:t> they showed a slight stabilization in 2025 compared to their 2024 peak.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They are not failing, but they require close monitoring to re-stimulate demand.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579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9E3AC-CE8A-F267-ED71-26BF25B63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Slide 7: Strategic Outlook &amp; Expected Business Impact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D5529-CC14-C95E-BEEB-170DBD7CC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Section 5 – 2026 Financial Goals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Expected Business Impact of these strategies is clear: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 will optimize inventory turnover.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Cement customer loyalty through free gifts.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Stabilize cash flow year-round.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2026 Objective: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Making our </a:t>
            </a:r>
            <a:r>
              <a:rPr lang="en-US" b="1" dirty="0"/>
              <a:t>$50 Million revenue goal for 2026</a:t>
            </a:r>
            <a:r>
              <a:rPr lang="en-US" dirty="0"/>
              <a:t> highly achievable.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147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02382-19EE-E2D5-A1CA-81B487C8D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Slide 8: Strategic Problem-Solving: Customer Retention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4AA71-BBCE-4734-57DD-4C87AB924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Section 6 – Identifying Key Challenges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"Our final strategic focus is on </a:t>
            </a:r>
            <a:r>
              <a:rPr lang="en-US" b="1" dirty="0"/>
              <a:t>Customer Retention</a:t>
            </a:r>
            <a:r>
              <a:rPr lang="en-US" dirty="0"/>
              <a:t>. We have identified three primary problems."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Problem 1: High Churn Risk for New Customers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79%</a:t>
            </a:r>
            <a:r>
              <a:rPr lang="en-US" dirty="0"/>
              <a:t> of our base is new.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we do not retain them within 12 months, our acquisition cost is wasted.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The Solution:</a:t>
            </a:r>
            <a:endParaRPr lang="en-US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Automated Welcome Journey.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'Second Purchase Discount.'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165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ABAF8-0827-0A48-A846-AB6D04A3F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Slide 9: Addressing Stagnant Regular Customers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2FB61-9B21-A8F4-5A05-3CC8F4CFC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Section 6 – Driving VIP Growth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Problem 2: Stagnant Regular Customers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These </a:t>
            </a:r>
            <a:r>
              <a:rPr lang="en-US" b="1" dirty="0"/>
              <a:t>2,200 loyal buyers</a:t>
            </a:r>
            <a:r>
              <a:rPr lang="en-US" dirty="0"/>
              <a:t> often stay under the $5,000 VIP threshold.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The Solution: Threshold Offers</a:t>
            </a:r>
            <a:endParaRPr lang="en-US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Example: "Spend $1,000 more to unlock </a:t>
            </a:r>
            <a:r>
              <a:rPr lang="en-US" b="1" dirty="0"/>
              <a:t>Lifetime VIP status</a:t>
            </a:r>
            <a:r>
              <a:rPr lang="en-US" dirty="0"/>
              <a:t>."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b="1" dirty="0"/>
              <a:t>Goal:</a:t>
            </a:r>
            <a:r>
              <a:rPr lang="en-US" dirty="0"/>
              <a:t> To encourage up-selling and loyalty.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288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B341-8213-B6A5-A94B-B5906D76C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Slide 10: Addressing Inactive VIPs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A8FB6-3BBB-CB7A-B507-588EBDD95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Section 6 – VIP Relationship Management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Problem 3: Inactive VIPs with High Recency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Some top-tier VIPs haven't purchased in 10 to 12 months.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The Solution:</a:t>
            </a:r>
            <a:endParaRPr lang="en-US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Assign </a:t>
            </a:r>
            <a:r>
              <a:rPr lang="en-US" b="1" dirty="0"/>
              <a:t>Dedicated Relationship Managers</a:t>
            </a:r>
            <a:r>
              <a:rPr lang="en-US" dirty="0"/>
              <a:t> for our Top 100 VIPs.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Provide them with exclusive previews of new product launches.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742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52BB4-0296-F242-02CB-712B45AF1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Slide 11: Analyst’s Final Advice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F7FD2-243B-3A5D-3F7C-D11DE3FDC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Section 6 – Profitability Formula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"To maximize profitability, our formula is simple:"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Build relationships with Newbies</a:t>
            </a:r>
            <a:r>
              <a:rPr lang="en-US" dirty="0"/>
              <a:t> via service quality.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Incentivize Regulars</a:t>
            </a:r>
            <a:r>
              <a:rPr lang="en-US" dirty="0"/>
              <a:t> to upgrade to VIP status.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Monitor VIP Recency</a:t>
            </a:r>
            <a:r>
              <a:rPr lang="en-US" dirty="0"/>
              <a:t> closely with personalized outreach.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415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6553C-178F-FC1D-0564-94B8B9C98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Final Slide: 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738E6-FBE9-712E-1A33-7B6D2C3B6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"Our dashboard confirms that the business foundation is </a:t>
            </a:r>
            <a:r>
              <a:rPr lang="en-US" sz="2800" b="1" dirty="0"/>
              <a:t>incredibly solid</a:t>
            </a:r>
            <a:r>
              <a:rPr lang="en-US" sz="2800" dirty="0"/>
              <a:t>. Every product has either </a:t>
            </a:r>
            <a:r>
              <a:rPr lang="en-US" sz="2800" b="1" dirty="0"/>
              <a:t>broken previous records</a:t>
            </a:r>
            <a:r>
              <a:rPr lang="en-US" sz="2800" dirty="0"/>
              <a:t> or maintained sales well above the average. By shifting our focus to </a:t>
            </a:r>
            <a:r>
              <a:rPr lang="en-US" sz="2800" b="1" dirty="0"/>
              <a:t>data-driven retention</a:t>
            </a:r>
            <a:r>
              <a:rPr lang="en-US" sz="2800" dirty="0"/>
              <a:t>, we will safeguard our profit margins and continue our journey as a </a:t>
            </a:r>
            <a:r>
              <a:rPr lang="en-US" sz="2800" b="1" dirty="0"/>
              <a:t>global market leader</a:t>
            </a:r>
            <a:r>
              <a:rPr lang="en-US" sz="2800" dirty="0"/>
              <a:t>."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0944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{FFE69AE5-55AE-4BE5-9588-D6D34858B316}TF229edf6a-8a49-49ee-a0a6-5037052947485fb3ca0c-bc27bf41d645</Template>
  <TotalTime>33</TotalTime>
  <Words>950</Words>
  <Application>Microsoft Office PowerPoint</Application>
  <PresentationFormat>Widescreen</PresentationFormat>
  <Paragraphs>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Century Gothic</vt:lpstr>
      <vt:lpstr>Wingdings 3</vt:lpstr>
      <vt:lpstr>Ion Boardroom</vt:lpstr>
      <vt:lpstr>Business Problem &amp; Solution impact</vt:lpstr>
      <vt:lpstr>Slide 1: Strategic Problem-Solving: The Roadmap </vt:lpstr>
      <vt:lpstr>Slide 2: Seasonal Strategy &amp; Dead Stock Management </vt:lpstr>
      <vt:lpstr>Slide 3: Revenue Concentration &amp; Diversification </vt:lpstr>
      <vt:lpstr>Revenue Concentration &amp; Diversification</vt:lpstr>
      <vt:lpstr>Slide 4: Operational Scaling </vt:lpstr>
      <vt:lpstr>Slide 5: Executive Summary: 2025 Closing &amp; Risk Assessment </vt:lpstr>
      <vt:lpstr>Slide 6: Performance Report &amp; Special Trend Analysis </vt:lpstr>
      <vt:lpstr>Slide 7: Strategic Outlook &amp; Expected Business Impact </vt:lpstr>
      <vt:lpstr>Slide 8: Strategic Problem-Solving: Customer Retention </vt:lpstr>
      <vt:lpstr>Slide 9: Addressing Stagnant Regular Customers </vt:lpstr>
      <vt:lpstr>Slide 10: Addressing Inactive VIPs </vt:lpstr>
      <vt:lpstr>Slide 11: Analyst’s Final Advice </vt:lpstr>
      <vt:lpstr>Final Slide: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Nasim Ahmmed</dc:creator>
  <cp:lastModifiedBy>Nasim Ahmmed</cp:lastModifiedBy>
  <cp:revision>1</cp:revision>
  <dcterms:created xsi:type="dcterms:W3CDTF">2026-03-30T04:38:14Z</dcterms:created>
  <dcterms:modified xsi:type="dcterms:W3CDTF">2026-03-30T05:11:53Z</dcterms:modified>
</cp:coreProperties>
</file>